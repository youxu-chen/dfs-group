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  <p:sldMasterId id="2147483732" r:id="rId3"/>
    <p:sldMasterId id="2147483744" r:id="rId4"/>
  </p:sldMasterIdLst>
  <p:notesMasterIdLst>
    <p:notesMasterId r:id="rId25"/>
  </p:notesMasterIdLst>
  <p:sldIdLst>
    <p:sldId id="256" r:id="rId5"/>
    <p:sldId id="257" r:id="rId6"/>
    <p:sldId id="272" r:id="rId7"/>
    <p:sldId id="273" r:id="rId8"/>
    <p:sldId id="274" r:id="rId9"/>
    <p:sldId id="268" r:id="rId10"/>
    <p:sldId id="269" r:id="rId11"/>
    <p:sldId id="270" r:id="rId12"/>
    <p:sldId id="271" r:id="rId13"/>
    <p:sldId id="267" r:id="rId14"/>
    <p:sldId id="258" r:id="rId15"/>
    <p:sldId id="259" r:id="rId16"/>
    <p:sldId id="260" r:id="rId17"/>
    <p:sldId id="266" r:id="rId18"/>
    <p:sldId id="261" r:id="rId19"/>
    <p:sldId id="262" r:id="rId20"/>
    <p:sldId id="263" r:id="rId21"/>
    <p:sldId id="265" r:id="rId22"/>
    <p:sldId id="264" r:id="rId23"/>
    <p:sldId id="275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6699"/>
    <a:srgbClr val="00FFCC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1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7361F-9258-492B-85C9-3D4C2F9F2507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03F16-DC32-45CF-9AB0-9BD899809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2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Data model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correlation</a:t>
            </a:r>
            <a:r>
              <a:rPr lang="zh-CN" altLang="en-US" dirty="0" smtClean="0"/>
              <a:t>长什么样，用什么数据结构来存，读取上有什么问题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inode</a:t>
            </a:r>
            <a:r>
              <a:rPr lang="zh-CN" altLang="en-US" dirty="0" smtClean="0"/>
              <a:t>原来是什么样的，现在</a:t>
            </a:r>
            <a:r>
              <a:rPr lang="en-US" altLang="zh-CN" dirty="0" smtClean="0"/>
              <a:t>extended version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03F16-DC32-45CF-9AB0-9BD8998097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991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add_corr</a:t>
            </a:r>
            <a:r>
              <a:rPr lang="en-US" altLang="zh-CN" dirty="0" smtClean="0"/>
              <a:t>(file1, file2, ),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参考</a:t>
            </a:r>
            <a:r>
              <a:rPr lang="en-US" altLang="zh-CN" baseline="0" dirty="0" smtClean="0"/>
              <a:t>Linux man page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03F16-DC32-45CF-9AB0-9BD8998097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824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04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A5002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0000" indent="-3600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1pPr>
            <a:lvl2pPr marL="720000" indent="-360000">
              <a:buClr>
                <a:srgbClr val="C00000"/>
              </a:buClr>
              <a:buFont typeface="Arial" panose="020B0604020202020204" pitchFamily="34" charset="0"/>
              <a:buChar char="−"/>
              <a:defRPr/>
            </a:lvl2pPr>
            <a:lvl3pPr marL="1080000" indent="-360000">
              <a:buClr>
                <a:srgbClr val="C00000"/>
              </a:buClr>
              <a:buFont typeface="Wingdings" panose="05000000000000000000" pitchFamily="2" charset="2"/>
              <a:buChar char="n"/>
              <a:defRPr/>
            </a:lvl3pPr>
            <a:lvl4pPr marL="1440000" indent="-360000">
              <a:buClr>
                <a:srgbClr val="C00000"/>
              </a:buClr>
              <a:buFont typeface="Wingdings" panose="05000000000000000000" pitchFamily="2" charset="2"/>
              <a:buChar char="n"/>
              <a:defRPr/>
            </a:lvl4pPr>
            <a:lvl5pPr marL="1800000" indent="-360000">
              <a:buClr>
                <a:srgbClr val="C00000"/>
              </a:buClr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628650" y="1436689"/>
            <a:ext cx="8515350" cy="13494"/>
          </a:xfrm>
          <a:prstGeom prst="line">
            <a:avLst/>
          </a:prstGeom>
          <a:ln cmpd="sng">
            <a:solidFill>
              <a:srgbClr val="333399"/>
            </a:solidFill>
            <a:prstDash val="sysDot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05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40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73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51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6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31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677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115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7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249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381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0000" indent="-360000">
              <a:buClr>
                <a:srgbClr val="FF0066"/>
              </a:buClr>
              <a:buFont typeface="Arial" panose="020B0604020202020204" pitchFamily="34" charset="0"/>
              <a:buChar char="•"/>
              <a:defRPr/>
            </a:lvl1pPr>
            <a:lvl2pPr marL="720000" indent="-360000">
              <a:buClr>
                <a:srgbClr val="FF0066"/>
              </a:buClr>
              <a:buFont typeface="Arial" panose="020B0604020202020204" pitchFamily="34" charset="0"/>
              <a:buChar char="−"/>
              <a:defRPr/>
            </a:lvl2pPr>
            <a:lvl3pPr marL="108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3pPr>
            <a:lvl4pPr marL="144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4pPr>
            <a:lvl5pPr marL="180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628650" y="1436689"/>
            <a:ext cx="8515350" cy="13494"/>
          </a:xfrm>
          <a:prstGeom prst="line">
            <a:avLst/>
          </a:prstGeom>
          <a:ln cmpd="sng">
            <a:solidFill>
              <a:srgbClr val="333399"/>
            </a:solidFill>
            <a:prstDash val="sysDot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463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124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400" b="1" kern="1200" dirty="0">
                <a:solidFill>
                  <a:srgbClr val="A5002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 marL="360000" marR="0" indent="360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ct val="70000"/>
              <a:buFont typeface="Arial" panose="020B0604020202020204" pitchFamily="34" charset="0"/>
              <a:buChar char="•"/>
              <a:tabLst/>
              <a:defRPr lang="zh-CN" altLang="en-US" sz="2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indent="-360000" algn="l" defTabSz="914400" rtl="0" eaLnBrk="1" latinLnBrk="0" hangingPunct="1">
              <a:lnSpc>
                <a:spcPct val="90000"/>
              </a:lnSpc>
              <a:buClr>
                <a:srgbClr val="FF0066"/>
              </a:buClr>
              <a:buSzPct val="70000"/>
              <a:defRPr lang="zh-CN" altLang="en-US" sz="2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indent="-360000" algn="l" defTabSz="914400" rtl="0" eaLnBrk="1" latinLnBrk="0" hangingPunct="1">
              <a:lnSpc>
                <a:spcPct val="90000"/>
              </a:lnSpc>
              <a:buClr>
                <a:srgbClr val="FF0066"/>
              </a:buClr>
              <a:buSzPct val="70000"/>
              <a:defRPr lang="zh-CN" altLang="en-US" sz="2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indent="-360000" algn="l" defTabSz="914400" rtl="0" eaLnBrk="1" latinLnBrk="0" hangingPunct="1">
              <a:lnSpc>
                <a:spcPct val="90000"/>
              </a:lnSpc>
              <a:buClr>
                <a:srgbClr val="FF0066"/>
              </a:buClr>
              <a:buSzPct val="70000"/>
              <a:defRPr lang="zh-CN" altLang="en-US" sz="2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indent="-360000" algn="l" defTabSz="914400" rtl="0" eaLnBrk="1" latinLnBrk="0" hangingPunct="1">
              <a:lnSpc>
                <a:spcPct val="90000"/>
              </a:lnSpc>
              <a:buClr>
                <a:srgbClr val="FF0066"/>
              </a:buClr>
              <a:buSzPct val="70000"/>
              <a:defRPr lang="zh-CN" altLang="en-US" sz="2800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ct val="70000"/>
              <a:tabLst/>
              <a:defRPr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ct val="70000"/>
              <a:tabLst/>
              <a:defRPr/>
            </a:pPr>
            <a:r>
              <a:rPr lang="zh-CN" altLang="en-US" smtClean="0"/>
              <a:t>第二级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ct val="70000"/>
              <a:buFont typeface="Arial" panose="020B0604020202020204" pitchFamily="34" charset="0"/>
              <a:buChar char="•"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ct val="70000"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28650" y="1436689"/>
            <a:ext cx="8515350" cy="13494"/>
          </a:xfrm>
          <a:prstGeom prst="line">
            <a:avLst/>
          </a:prstGeom>
          <a:ln cmpd="sng">
            <a:solidFill>
              <a:srgbClr val="333399"/>
            </a:solidFill>
            <a:prstDash val="sysDot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804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731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609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998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2291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615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4777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3655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0000" indent="-360000">
              <a:buClr>
                <a:srgbClr val="FF0066"/>
              </a:buClr>
              <a:buFont typeface="Arial" panose="020B0604020202020204" pitchFamily="34" charset="0"/>
              <a:buChar char="•"/>
              <a:defRPr/>
            </a:lvl1pPr>
            <a:lvl2pPr marL="720000" indent="-360000">
              <a:buClr>
                <a:srgbClr val="FF0066"/>
              </a:buClr>
              <a:buFont typeface="Arial" panose="020B0604020202020204" pitchFamily="34" charset="0"/>
              <a:buChar char="−"/>
              <a:defRPr/>
            </a:lvl2pPr>
            <a:lvl3pPr marL="108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3pPr>
            <a:lvl4pPr marL="144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4pPr>
            <a:lvl5pPr marL="180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628650" y="1436689"/>
            <a:ext cx="8515350" cy="13494"/>
          </a:xfrm>
          <a:prstGeom prst="line">
            <a:avLst/>
          </a:prstGeom>
          <a:ln cmpd="sng">
            <a:solidFill>
              <a:srgbClr val="333399"/>
            </a:solidFill>
            <a:prstDash val="sysDot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032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0666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6252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5263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4510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137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2047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481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4320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4736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4639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0000" indent="-360000">
              <a:buClr>
                <a:srgbClr val="FF0066"/>
              </a:buClr>
              <a:buFont typeface="Arial" panose="020B0604020202020204" pitchFamily="34" charset="0"/>
              <a:buChar char="•"/>
              <a:defRPr/>
            </a:lvl1pPr>
            <a:lvl2pPr marL="720000" indent="-360000">
              <a:buClr>
                <a:srgbClr val="FF0066"/>
              </a:buClr>
              <a:buFont typeface="Arial" panose="020B0604020202020204" pitchFamily="34" charset="0"/>
              <a:buChar char="−"/>
              <a:defRPr/>
            </a:lvl2pPr>
            <a:lvl3pPr marL="108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3pPr>
            <a:lvl4pPr marL="144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4pPr>
            <a:lvl5pPr marL="1800000" indent="-360000">
              <a:buClr>
                <a:srgbClr val="FF0066"/>
              </a:buClr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628650" y="1436689"/>
            <a:ext cx="8515350" cy="13494"/>
          </a:xfrm>
          <a:prstGeom prst="line">
            <a:avLst/>
          </a:prstGeom>
          <a:ln cmpd="sng">
            <a:solidFill>
              <a:srgbClr val="333399"/>
            </a:solidFill>
            <a:prstDash val="sysDot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269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A5002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8562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1085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3892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492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9246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123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60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2336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C4672-7A98-4005-92AA-6164EB6B6D0D}" type="datetimeFigureOut">
              <a:rPr lang="zh-CN" altLang="en-US" smtClean="0"/>
              <a:t>2017/8/2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B10BB-4FA8-4675-8223-E7C1401D7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52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72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─"/>
        <a:defRPr sz="2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08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44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180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52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72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─"/>
        <a:defRPr sz="2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08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44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180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85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72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─"/>
        <a:defRPr sz="2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08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44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180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6A7C4-A52B-4BFA-BF98-8299630EBA0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2017/8/2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51B97F6-5C67-4CE7-B6D7-1123B69CD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275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72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─"/>
        <a:defRPr sz="2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08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44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1800000" indent="-36000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 smtClean="0"/>
              <a:t>CoreFS</a:t>
            </a:r>
            <a:r>
              <a:rPr lang="en-US" altLang="zh-CN" dirty="0" err="1"/>
              <a:t>:</a:t>
            </a:r>
            <a:r>
              <a:rPr lang="en-US" altLang="zh-CN" dirty="0" err="1" smtClean="0"/>
              <a:t>correlation-based</a:t>
            </a:r>
            <a:r>
              <a:rPr lang="en-US" altLang="zh-CN" dirty="0" smtClean="0"/>
              <a:t> File System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957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What is metadata correlation ?</a:t>
            </a:r>
          </a:p>
          <a:p>
            <a:pPr lvl="1"/>
            <a:r>
              <a:rPr lang="en-US" altLang="zh-CN" dirty="0" smtClean="0"/>
              <a:t>Data correlation</a:t>
            </a:r>
          </a:p>
          <a:p>
            <a:pPr lvl="1"/>
            <a:r>
              <a:rPr lang="en-US" altLang="zh-CN" dirty="0" smtClean="0"/>
              <a:t>Access correlation</a:t>
            </a:r>
          </a:p>
          <a:p>
            <a:pPr lvl="1"/>
            <a:r>
              <a:rPr lang="en-US" altLang="zh-CN" dirty="0" smtClean="0"/>
              <a:t>Directory correlation</a:t>
            </a:r>
          </a:p>
          <a:p>
            <a:r>
              <a:rPr lang="en-US" altLang="zh-CN" dirty="0" smtClean="0"/>
              <a:t>How to extract correlation?</a:t>
            </a:r>
          </a:p>
          <a:p>
            <a:pPr lvl="1"/>
            <a:r>
              <a:rPr lang="en-US" altLang="zh-CN" dirty="0" smtClean="0"/>
              <a:t>User interface</a:t>
            </a:r>
          </a:p>
          <a:p>
            <a:pPr lvl="2"/>
            <a:r>
              <a:rPr lang="en-US" altLang="zh-CN" dirty="0" smtClean="0"/>
              <a:t>Create, add, remove, list</a:t>
            </a:r>
          </a:p>
          <a:p>
            <a:pPr lvl="1"/>
            <a:r>
              <a:rPr lang="en-US" altLang="zh-CN" dirty="0" smtClean="0"/>
              <a:t>Offline + online</a:t>
            </a:r>
          </a:p>
          <a:p>
            <a:r>
              <a:rPr lang="en-US" altLang="zh-CN" dirty="0" smtClean="0"/>
              <a:t>How to use?</a:t>
            </a:r>
          </a:p>
          <a:p>
            <a:pPr lvl="1"/>
            <a:r>
              <a:rPr lang="en-US" altLang="zh-CN" dirty="0" smtClean="0"/>
              <a:t>prefetching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025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Motivation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Data access path</a:t>
            </a:r>
          </a:p>
          <a:p>
            <a:pPr lvl="1"/>
            <a:r>
              <a:rPr lang="en-US" altLang="zh-CN" dirty="0" smtClean="0"/>
              <a:t>If a client wants to get a file, then what is the procedure?</a:t>
            </a:r>
          </a:p>
          <a:p>
            <a:r>
              <a:rPr lang="en-US" altLang="zh-CN" dirty="0" smtClean="0"/>
              <a:t>We identify a few problems:</a:t>
            </a:r>
          </a:p>
          <a:p>
            <a:pPr lvl="1"/>
            <a:r>
              <a:rPr lang="en-US" altLang="zh-CN" dirty="0" smtClean="0"/>
              <a:t>If a file contains pointers to other files, and these files must be accessed all together, then how the existing solution works?</a:t>
            </a:r>
          </a:p>
          <a:p>
            <a:pPr lvl="2"/>
            <a:r>
              <a:rPr lang="en-US" altLang="zh-CN" dirty="0" smtClean="0"/>
              <a:t>Fetching multiple times, and the traffic to meta server will overwhelm 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29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Problem statement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We would like to reduce the traffic and IOs to meta server</a:t>
            </a:r>
          </a:p>
          <a:p>
            <a:pPr lvl="1"/>
            <a:r>
              <a:rPr lang="en-US" altLang="zh-CN" dirty="0" smtClean="0"/>
              <a:t>How? Prefetching meta data all together</a:t>
            </a:r>
          </a:p>
          <a:p>
            <a:pPr lvl="1"/>
            <a:r>
              <a:rPr lang="en-US" altLang="zh-CN" dirty="0" smtClean="0"/>
              <a:t>How? Exploring correlations between files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274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Related 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3 – 5 pieces of work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259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model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What is a correlation?</a:t>
            </a:r>
          </a:p>
          <a:p>
            <a:endParaRPr lang="en-US" altLang="zh-CN" dirty="0"/>
          </a:p>
          <a:p>
            <a:r>
              <a:rPr lang="en-US" altLang="zh-CN" dirty="0" smtClean="0"/>
              <a:t>What are the types?</a:t>
            </a:r>
          </a:p>
          <a:p>
            <a:endParaRPr lang="en-US" altLang="zh-CN" dirty="0"/>
          </a:p>
          <a:p>
            <a:r>
              <a:rPr lang="en-US" altLang="zh-CN" dirty="0" smtClean="0"/>
              <a:t>How to define?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Will you use priority for different correlations?</a:t>
            </a:r>
          </a:p>
          <a:p>
            <a:pPr lvl="1"/>
            <a:r>
              <a:rPr lang="en-US" altLang="zh-CN" dirty="0" smtClean="0"/>
              <a:t>In a web store scenario, links are less related than photos or files.</a:t>
            </a:r>
          </a:p>
          <a:p>
            <a:pPr lvl="1"/>
            <a:r>
              <a:rPr lang="en-US" altLang="zh-CN" dirty="0" smtClean="0"/>
              <a:t>Data reference vs. Access patterns</a:t>
            </a:r>
          </a:p>
        </p:txBody>
      </p:sp>
    </p:spTree>
    <p:extLst>
      <p:ext uri="{BB962C8B-B14F-4D97-AF65-F5344CB8AC3E}">
        <p14:creationId xmlns:p14="http://schemas.microsoft.com/office/powerpoint/2010/main" val="2555812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What kinds of changes made to File systems meta data?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Changes to </a:t>
            </a:r>
            <a:r>
              <a:rPr lang="en-US" altLang="zh-CN" dirty="0" err="1" smtClean="0"/>
              <a:t>Inode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What is the data structure for storing correlations?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496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Changes to the interface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Add correlations with different types</a:t>
            </a:r>
          </a:p>
          <a:p>
            <a:endParaRPr lang="en-US" altLang="zh-CN" dirty="0"/>
          </a:p>
          <a:p>
            <a:r>
              <a:rPr lang="en-US" altLang="zh-CN" dirty="0" smtClean="0"/>
              <a:t>Remove </a:t>
            </a:r>
            <a:r>
              <a:rPr lang="en-US" altLang="zh-CN" dirty="0" smtClean="0"/>
              <a:t>correlations</a:t>
            </a:r>
          </a:p>
          <a:p>
            <a:endParaRPr lang="en-US" altLang="zh-CN" dirty="0"/>
          </a:p>
          <a:p>
            <a:r>
              <a:rPr lang="en-US" altLang="zh-CN" dirty="0" smtClean="0"/>
              <a:t>List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980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Challenges?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Efficiently store correlations, not too big</a:t>
            </a:r>
          </a:p>
          <a:p>
            <a:endParaRPr lang="en-US" altLang="zh-CN" dirty="0"/>
          </a:p>
          <a:p>
            <a:r>
              <a:rPr lang="en-US" altLang="zh-CN" dirty="0" smtClean="0"/>
              <a:t>When to update?</a:t>
            </a:r>
          </a:p>
          <a:p>
            <a:pPr lvl="1"/>
            <a:r>
              <a:rPr lang="en-US" altLang="zh-CN" dirty="0" smtClean="0"/>
              <a:t>Offline + Online</a:t>
            </a:r>
          </a:p>
          <a:p>
            <a:pPr lvl="1"/>
            <a:endParaRPr lang="en-US" altLang="zh-CN" dirty="0"/>
          </a:p>
          <a:p>
            <a:r>
              <a:rPr lang="en-US" altLang="zh-CN" dirty="0" smtClean="0"/>
              <a:t>How to efficiently update?</a:t>
            </a:r>
          </a:p>
          <a:p>
            <a:pPr lvl="1"/>
            <a:r>
              <a:rPr lang="en-US" altLang="zh-CN" dirty="0" smtClean="0"/>
              <a:t>Less traffic</a:t>
            </a:r>
          </a:p>
          <a:p>
            <a:pPr lvl="1"/>
            <a:r>
              <a:rPr lang="en-US" altLang="zh-CN" dirty="0" smtClean="0"/>
              <a:t>Less power</a:t>
            </a:r>
          </a:p>
          <a:p>
            <a:pPr lvl="1"/>
            <a:r>
              <a:rPr lang="en-US" altLang="zh-CN" dirty="0" smtClean="0"/>
              <a:t>Less memory consumption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053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 interface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Create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correlation for a specific file</a:t>
            </a:r>
          </a:p>
          <a:p>
            <a:endParaRPr lang="en-US" altLang="zh-CN" dirty="0"/>
          </a:p>
          <a:p>
            <a:r>
              <a:rPr lang="en-US" altLang="zh-CN" dirty="0" smtClean="0"/>
              <a:t>Type</a:t>
            </a:r>
          </a:p>
          <a:p>
            <a:pPr lvl="1"/>
            <a:r>
              <a:rPr lang="en-US" altLang="zh-CN" dirty="0" err="1"/>
              <a:t>d</a:t>
            </a:r>
            <a:r>
              <a:rPr lang="en-US" altLang="zh-CN" dirty="0" err="1" smtClean="0"/>
              <a:t>ata_correlation</a:t>
            </a:r>
            <a:endParaRPr lang="en-US" altLang="zh-CN" dirty="0" smtClean="0"/>
          </a:p>
          <a:p>
            <a:pPr lvl="1"/>
            <a:r>
              <a:rPr lang="en-US" altLang="zh-CN" dirty="0" err="1"/>
              <a:t>a</a:t>
            </a:r>
            <a:r>
              <a:rPr lang="en-US" altLang="zh-CN" dirty="0" err="1" smtClean="0"/>
              <a:t>ccess_correlation</a:t>
            </a:r>
            <a:endParaRPr lang="en-US" altLang="zh-CN" dirty="0" smtClean="0"/>
          </a:p>
          <a:p>
            <a:r>
              <a:rPr lang="en-US" altLang="zh-CN" dirty="0" smtClean="0"/>
              <a:t> Classify </a:t>
            </a:r>
            <a:r>
              <a:rPr lang="en-US" altLang="zh-CN" dirty="0" smtClean="0"/>
              <a:t>correlation according to type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2262187"/>
            <a:ext cx="9134475" cy="5048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362" y="5202428"/>
            <a:ext cx="56292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3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 interface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Create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correlation for a specific file</a:t>
            </a:r>
          </a:p>
          <a:p>
            <a:endParaRPr lang="en-US" altLang="zh-CN" dirty="0"/>
          </a:p>
          <a:p>
            <a:r>
              <a:rPr lang="en-US" altLang="zh-CN" dirty="0" smtClean="0"/>
              <a:t>Type</a:t>
            </a:r>
          </a:p>
          <a:p>
            <a:pPr lvl="1"/>
            <a:r>
              <a:rPr lang="en-US" altLang="zh-CN" dirty="0" err="1"/>
              <a:t>d</a:t>
            </a:r>
            <a:r>
              <a:rPr lang="en-US" altLang="zh-CN" dirty="0" err="1" smtClean="0"/>
              <a:t>ata_correlation</a:t>
            </a:r>
            <a:endParaRPr lang="en-US" altLang="zh-CN" dirty="0" smtClean="0"/>
          </a:p>
          <a:p>
            <a:pPr lvl="1"/>
            <a:r>
              <a:rPr lang="en-US" altLang="zh-CN" dirty="0" err="1"/>
              <a:t>a</a:t>
            </a:r>
            <a:r>
              <a:rPr lang="en-US" altLang="zh-CN" dirty="0" err="1" smtClean="0"/>
              <a:t>ccess_correlation</a:t>
            </a:r>
            <a:endParaRPr lang="en-US" altLang="zh-CN" dirty="0" smtClean="0"/>
          </a:p>
          <a:p>
            <a:pPr lvl="1"/>
            <a:r>
              <a:rPr lang="en-US" altLang="zh-CN" dirty="0" err="1"/>
              <a:t>d</a:t>
            </a:r>
            <a:r>
              <a:rPr lang="en-US" altLang="zh-CN" dirty="0" err="1" smtClean="0"/>
              <a:t>irectory_correlation</a:t>
            </a:r>
            <a:endParaRPr lang="en-US" altLang="zh-CN" dirty="0" smtClean="0"/>
          </a:p>
          <a:p>
            <a:r>
              <a:rPr lang="en-US" altLang="zh-CN" dirty="0" smtClean="0"/>
              <a:t>Classify correlation according to type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262187"/>
            <a:ext cx="9134475" cy="5048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362" y="5202428"/>
            <a:ext cx="56292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3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5633047"/>
            <a:ext cx="8181975" cy="466725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628650" y="4178460"/>
            <a:ext cx="8135675" cy="129279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 interface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Add</a:t>
            </a:r>
            <a:r>
              <a:rPr lang="en-US" altLang="zh-CN" dirty="0" smtClean="0"/>
              <a:t> correlation to a specific file</a:t>
            </a:r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 smtClean="0"/>
              <a:t>dual </a:t>
            </a:r>
          </a:p>
          <a:p>
            <a:pPr lvl="1"/>
            <a:r>
              <a:rPr lang="en-US" altLang="zh-CN" dirty="0" smtClean="0"/>
              <a:t>dual correlation or single correlation</a:t>
            </a:r>
          </a:p>
          <a:p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3060070" y="6112722"/>
            <a:ext cx="3074593" cy="624689"/>
            <a:chOff x="1294646" y="4562947"/>
            <a:chExt cx="2657758" cy="561314"/>
          </a:xfrm>
        </p:grpSpPr>
        <p:sp>
          <p:nvSpPr>
            <p:cNvPr id="15" name="流程图: 文档 14"/>
            <p:cNvSpPr/>
            <p:nvPr/>
          </p:nvSpPr>
          <p:spPr>
            <a:xfrm>
              <a:off x="1294646" y="4562947"/>
              <a:ext cx="941560" cy="561314"/>
            </a:xfrm>
            <a:prstGeom prst="flowChartDocumen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</a:t>
              </a:r>
              <a:r>
                <a:rPr lang="en-US" altLang="zh-CN" sz="2400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stc</a:t>
              </a:r>
              <a:endParaRPr lang="en-US" altLang="zh-CN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" name="流程图: 可选过程 15"/>
            <p:cNvSpPr/>
            <p:nvPr/>
          </p:nvSpPr>
          <p:spPr>
            <a:xfrm>
              <a:off x="2902202" y="4562947"/>
              <a:ext cx="1050202" cy="561314"/>
            </a:xfrm>
            <a:prstGeom prst="flowChartAlternate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  <a:r>
                <a:rPr lang="en-US" altLang="zh-CN" sz="2400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s.ustc</a:t>
              </a:r>
              <a:endParaRPr lang="zh-CN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7" name="直接箭头连接符 16"/>
            <p:cNvCxnSpPr>
              <a:stCxn id="15" idx="3"/>
              <a:endCxn id="16" idx="1"/>
            </p:cNvCxnSpPr>
            <p:nvPr/>
          </p:nvCxnSpPr>
          <p:spPr>
            <a:xfrm>
              <a:off x="2236206" y="4843604"/>
              <a:ext cx="6659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3060070" y="4809356"/>
            <a:ext cx="3074593" cy="545561"/>
            <a:chOff x="1294646" y="4562947"/>
            <a:chExt cx="2657758" cy="561314"/>
          </a:xfrm>
        </p:grpSpPr>
        <p:sp>
          <p:nvSpPr>
            <p:cNvPr id="19" name="流程图: 文档 18"/>
            <p:cNvSpPr/>
            <p:nvPr/>
          </p:nvSpPr>
          <p:spPr>
            <a:xfrm>
              <a:off x="1294646" y="4562947"/>
              <a:ext cx="941560" cy="561314"/>
            </a:xfrm>
            <a:prstGeom prst="flowChartDocumen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</a:t>
              </a:r>
              <a:r>
                <a:rPr lang="en-US" altLang="zh-CN" sz="2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est.c</a:t>
              </a:r>
              <a:endParaRPr lang="zh-CN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流程图: 可选过程 19"/>
            <p:cNvSpPr/>
            <p:nvPr/>
          </p:nvSpPr>
          <p:spPr>
            <a:xfrm>
              <a:off x="2902202" y="4562947"/>
              <a:ext cx="1050202" cy="561314"/>
            </a:xfrm>
            <a:prstGeom prst="flowChartAlternate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</a:t>
              </a:r>
              <a:r>
                <a:rPr lang="en-US" altLang="zh-CN" sz="2400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est.h</a:t>
              </a:r>
              <a:endParaRPr lang="zh-CN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1" name="直接箭头连接符 20"/>
            <p:cNvCxnSpPr>
              <a:stCxn id="19" idx="3"/>
              <a:endCxn id="20" idx="1"/>
            </p:cNvCxnSpPr>
            <p:nvPr/>
          </p:nvCxnSpPr>
          <p:spPr>
            <a:xfrm>
              <a:off x="2236206" y="4843604"/>
              <a:ext cx="6659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60" y="2323737"/>
            <a:ext cx="7839075" cy="79057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909" y="4272405"/>
            <a:ext cx="6886575" cy="4953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09260" y="5537494"/>
            <a:ext cx="8155065" cy="1292790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17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流程图: 可选过程 24"/>
          <p:cNvSpPr/>
          <p:nvPr/>
        </p:nvSpPr>
        <p:spPr>
          <a:xfrm>
            <a:off x="393839" y="3860915"/>
            <a:ext cx="8515350" cy="1250535"/>
          </a:xfrm>
          <a:prstGeom prst="flowChartAlternateProcess">
            <a:avLst/>
          </a:prstGeom>
          <a:noFill/>
          <a:ln w="28575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 interface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Remove</a:t>
            </a:r>
            <a:r>
              <a:rPr lang="en-US" altLang="zh-CN" dirty="0" smtClean="0"/>
              <a:t> correlation from a specific file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Unlink correlated files</a:t>
            </a:r>
          </a:p>
          <a:p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2571354" y="4452233"/>
            <a:ext cx="3074593" cy="624689"/>
            <a:chOff x="1014412" y="4290187"/>
            <a:chExt cx="2752253" cy="624689"/>
          </a:xfrm>
        </p:grpSpPr>
        <p:grpSp>
          <p:nvGrpSpPr>
            <p:cNvPr id="10" name="组合 9"/>
            <p:cNvGrpSpPr/>
            <p:nvPr/>
          </p:nvGrpSpPr>
          <p:grpSpPr>
            <a:xfrm>
              <a:off x="1014412" y="4290187"/>
              <a:ext cx="2752253" cy="624689"/>
              <a:chOff x="1294646" y="4562947"/>
              <a:chExt cx="2657758" cy="561314"/>
            </a:xfrm>
          </p:grpSpPr>
          <p:sp>
            <p:nvSpPr>
              <p:cNvPr id="11" name="流程图: 文档 10"/>
              <p:cNvSpPr/>
              <p:nvPr/>
            </p:nvSpPr>
            <p:spPr>
              <a:xfrm>
                <a:off x="1294646" y="4562947"/>
                <a:ext cx="941560" cy="561314"/>
              </a:xfrm>
              <a:prstGeom prst="flowChartDocumen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t</a:t>
                </a:r>
                <a:r>
                  <a:rPr lang="en-US" altLang="zh-CN" sz="24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est.c</a:t>
                </a:r>
                <a:endParaRPr lang="zh-CN" alt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2" name="流程图: 可选过程 11"/>
              <p:cNvSpPr/>
              <p:nvPr/>
            </p:nvSpPr>
            <p:spPr>
              <a:xfrm>
                <a:off x="2902202" y="4562947"/>
                <a:ext cx="1050202" cy="561314"/>
              </a:xfrm>
              <a:prstGeom prst="flowChartAlternateProcess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t</a:t>
                </a:r>
                <a:r>
                  <a:rPr lang="en-US" altLang="zh-CN" sz="2400" dirty="0" err="1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est.h</a:t>
                </a:r>
                <a:endParaRPr lang="zh-CN" alt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cxnSp>
            <p:nvCxnSpPr>
              <p:cNvPr id="13" name="直接箭头连接符 12"/>
              <p:cNvCxnSpPr>
                <a:stCxn id="11" idx="3"/>
                <a:endCxn id="12" idx="1"/>
              </p:cNvCxnSpPr>
              <p:nvPr/>
            </p:nvCxnSpPr>
            <p:spPr>
              <a:xfrm>
                <a:off x="2236206" y="4843604"/>
                <a:ext cx="66599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乘号 13"/>
            <p:cNvSpPr/>
            <p:nvPr/>
          </p:nvSpPr>
          <p:spPr>
            <a:xfrm>
              <a:off x="2189430" y="4358087"/>
              <a:ext cx="289711" cy="488887"/>
            </a:xfrm>
            <a:prstGeom prst="mathMultiply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09" y="3961546"/>
            <a:ext cx="7324725" cy="419100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393837" y="5298196"/>
            <a:ext cx="8515352" cy="1250535"/>
            <a:chOff x="393837" y="5170873"/>
            <a:chExt cx="8515352" cy="1250535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839" y="5183416"/>
              <a:ext cx="8515350" cy="409575"/>
            </a:xfrm>
            <a:prstGeom prst="rect">
              <a:avLst/>
            </a:prstGeom>
          </p:spPr>
        </p:pic>
        <p:sp>
          <p:nvSpPr>
            <p:cNvPr id="26" name="流程图: 可选过程 25"/>
            <p:cNvSpPr/>
            <p:nvPr/>
          </p:nvSpPr>
          <p:spPr>
            <a:xfrm>
              <a:off x="393837" y="5170873"/>
              <a:ext cx="8515351" cy="1250535"/>
            </a:xfrm>
            <a:prstGeom prst="flowChartAlternateProcess">
              <a:avLst/>
            </a:prstGeom>
            <a:noFill/>
            <a:ln w="28575">
              <a:solidFill>
                <a:schemeClr val="accent3">
                  <a:lumMod val="50000"/>
                </a:schemeClr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571354" y="5674494"/>
              <a:ext cx="3074593" cy="624689"/>
              <a:chOff x="2687102" y="5674494"/>
              <a:chExt cx="3074593" cy="624689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2687102" y="5674494"/>
                <a:ext cx="3074593" cy="624689"/>
                <a:chOff x="1294646" y="4562947"/>
                <a:chExt cx="2657758" cy="561314"/>
              </a:xfrm>
            </p:grpSpPr>
            <p:sp>
              <p:nvSpPr>
                <p:cNvPr id="16" name="流程图: 文档 15"/>
                <p:cNvSpPr/>
                <p:nvPr/>
              </p:nvSpPr>
              <p:spPr>
                <a:xfrm>
                  <a:off x="1294646" y="4562947"/>
                  <a:ext cx="941560" cy="561314"/>
                </a:xfrm>
                <a:prstGeom prst="flowChartDocumen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err="1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u</a:t>
                  </a:r>
                  <a:r>
                    <a:rPr lang="en-US" altLang="zh-CN" sz="2400" dirty="0" err="1" smtClean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stc</a:t>
                  </a:r>
                  <a:endParaRPr lang="en-US" altLang="zh-CN" sz="2400" dirty="0" smtClean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7" name="流程图: 可选过程 16"/>
                <p:cNvSpPr/>
                <p:nvPr/>
              </p:nvSpPr>
              <p:spPr>
                <a:xfrm>
                  <a:off x="2902202" y="4562947"/>
                  <a:ext cx="1050202" cy="561314"/>
                </a:xfrm>
                <a:prstGeom prst="flowChartAlternateProcess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err="1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c</a:t>
                  </a:r>
                  <a:r>
                    <a:rPr lang="en-US" altLang="zh-CN" sz="2400" dirty="0" err="1" smtClean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s.ustc</a:t>
                  </a:r>
                  <a:endParaRPr lang="zh-CN" alt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cxnSp>
              <p:nvCxnSpPr>
                <p:cNvPr id="18" name="直接箭头连接符 17"/>
                <p:cNvCxnSpPr>
                  <a:stCxn id="16" idx="3"/>
                  <a:endCxn id="17" idx="1"/>
                </p:cNvCxnSpPr>
                <p:nvPr/>
              </p:nvCxnSpPr>
              <p:spPr>
                <a:xfrm>
                  <a:off x="2236206" y="4843604"/>
                  <a:ext cx="665996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乘号 26"/>
              <p:cNvSpPr/>
              <p:nvPr/>
            </p:nvSpPr>
            <p:spPr>
              <a:xfrm>
                <a:off x="3999736" y="5728827"/>
                <a:ext cx="323642" cy="488887"/>
              </a:xfrm>
              <a:prstGeom prst="mathMultiply">
                <a:avLst/>
              </a:prstGeom>
              <a:gradFill flip="none" rotWithShape="1">
                <a:gsLst>
                  <a:gs pos="0">
                    <a:srgbClr val="C00000">
                      <a:shade val="30000"/>
                      <a:satMod val="115000"/>
                    </a:srgbClr>
                  </a:gs>
                  <a:gs pos="50000">
                    <a:srgbClr val="C00000">
                      <a:shade val="67500"/>
                      <a:satMod val="115000"/>
                    </a:srgbClr>
                  </a:gs>
                  <a:gs pos="100000">
                    <a:srgbClr val="C0000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71" y="2409136"/>
            <a:ext cx="8142857" cy="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5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 interface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List correlations of a specific file</a:t>
            </a:r>
          </a:p>
          <a:p>
            <a:endParaRPr lang="en-US" altLang="zh-CN" dirty="0"/>
          </a:p>
          <a:p>
            <a:r>
              <a:rPr lang="en-US" altLang="zh-CN" dirty="0" smtClean="0"/>
              <a:t>Default</a:t>
            </a:r>
          </a:p>
          <a:p>
            <a:pPr lvl="1"/>
            <a:r>
              <a:rPr lang="en-US" altLang="zh-CN" dirty="0" smtClean="0"/>
              <a:t>Type is null &amp; list all correlations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11" y="2299373"/>
            <a:ext cx="8819048" cy="4666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460" y="3938168"/>
            <a:ext cx="5219048" cy="533333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558673" y="5228345"/>
            <a:ext cx="3003822" cy="624689"/>
            <a:chOff x="1294646" y="4562947"/>
            <a:chExt cx="2657758" cy="561314"/>
          </a:xfrm>
        </p:grpSpPr>
        <p:sp>
          <p:nvSpPr>
            <p:cNvPr id="7" name="流程图: 文档 6"/>
            <p:cNvSpPr/>
            <p:nvPr/>
          </p:nvSpPr>
          <p:spPr>
            <a:xfrm>
              <a:off x="1294646" y="4562947"/>
              <a:ext cx="941560" cy="561314"/>
            </a:xfrm>
            <a:prstGeom prst="flowChartDocumen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</a:t>
              </a:r>
              <a:r>
                <a:rPr lang="en-US" altLang="zh-CN" sz="2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est.c</a:t>
              </a:r>
              <a:endParaRPr lang="zh-CN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流程图: 可选过程 7"/>
            <p:cNvSpPr/>
            <p:nvPr/>
          </p:nvSpPr>
          <p:spPr>
            <a:xfrm>
              <a:off x="2902202" y="4562947"/>
              <a:ext cx="1050202" cy="561314"/>
            </a:xfrm>
            <a:prstGeom prst="flowChartAlternate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b.h</a:t>
              </a:r>
              <a:endParaRPr lang="zh-CN" alt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9" name="直接箭头连接符 8"/>
            <p:cNvCxnSpPr>
              <a:stCxn id="7" idx="3"/>
              <a:endCxn id="8" idx="1"/>
            </p:cNvCxnSpPr>
            <p:nvPr/>
          </p:nvCxnSpPr>
          <p:spPr>
            <a:xfrm>
              <a:off x="2236206" y="4843604"/>
              <a:ext cx="6659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流程图: 可选过程 9"/>
          <p:cNvSpPr/>
          <p:nvPr/>
        </p:nvSpPr>
        <p:spPr>
          <a:xfrm>
            <a:off x="4375547" y="4536188"/>
            <a:ext cx="1186948" cy="624689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a.h</a:t>
            </a:r>
            <a:endParaRPr lang="zh-CN" alt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" name="直接箭头连接符 10"/>
          <p:cNvCxnSpPr>
            <a:stCxn id="7" idx="3"/>
            <a:endCxn id="10" idx="1"/>
          </p:cNvCxnSpPr>
          <p:nvPr/>
        </p:nvCxnSpPr>
        <p:spPr>
          <a:xfrm flipV="1">
            <a:off x="3622833" y="4848533"/>
            <a:ext cx="752714" cy="692157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图: 可选过程 11"/>
          <p:cNvSpPr/>
          <p:nvPr/>
        </p:nvSpPr>
        <p:spPr>
          <a:xfrm>
            <a:off x="4379214" y="5920501"/>
            <a:ext cx="1186948" cy="624689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c.h</a:t>
            </a:r>
            <a:endParaRPr lang="zh-CN" alt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直接箭头连接符 12"/>
          <p:cNvCxnSpPr>
            <a:stCxn id="7" idx="3"/>
            <a:endCxn id="12" idx="1"/>
          </p:cNvCxnSpPr>
          <p:nvPr/>
        </p:nvCxnSpPr>
        <p:spPr>
          <a:xfrm>
            <a:off x="3622833" y="5540690"/>
            <a:ext cx="756381" cy="692156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38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流程图: 可选过程 50"/>
          <p:cNvSpPr/>
          <p:nvPr/>
        </p:nvSpPr>
        <p:spPr>
          <a:xfrm>
            <a:off x="1901228" y="5111609"/>
            <a:ext cx="814812" cy="755037"/>
          </a:xfrm>
          <a:prstGeom prst="flowChartAlternateProcess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Online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Semantic analysis while writing</a:t>
            </a:r>
          </a:p>
          <a:p>
            <a:pPr lvl="1"/>
            <a:r>
              <a:rPr lang="en-US" altLang="zh-CN" dirty="0" smtClean="0"/>
              <a:t>web, code</a:t>
            </a:r>
          </a:p>
          <a:p>
            <a:pPr lvl="1"/>
            <a:r>
              <a:rPr lang="en-US" altLang="zh-CN" dirty="0" smtClean="0"/>
              <a:t>Update</a:t>
            </a:r>
          </a:p>
          <a:p>
            <a:pPr lvl="2"/>
            <a:r>
              <a:rPr lang="en-US" altLang="zh-CN" dirty="0" smtClean="0"/>
              <a:t>Reserve obsolete correlation</a:t>
            </a:r>
          </a:p>
          <a:p>
            <a:pPr lvl="2"/>
            <a:r>
              <a:rPr lang="en-US" altLang="zh-CN" dirty="0" smtClean="0"/>
              <a:t>LRU </a:t>
            </a:r>
            <a:r>
              <a:rPr lang="en-US" altLang="zh-CN" dirty="0" err="1" smtClean="0"/>
              <a:t>MaxSize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729469" y="3907841"/>
            <a:ext cx="960699" cy="30094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b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5729469" y="4208783"/>
            <a:ext cx="960699" cy="300942"/>
          </a:xfrm>
          <a:prstGeom prst="rect">
            <a:avLst/>
          </a:prstGeom>
          <a:solidFill>
            <a:srgbClr val="0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c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6769209" y="4186240"/>
            <a:ext cx="93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data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5729469" y="4509725"/>
            <a:ext cx="960699" cy="300942"/>
          </a:xfrm>
          <a:prstGeom prst="rect">
            <a:avLst/>
          </a:prstGeom>
          <a:solidFill>
            <a:srgbClr val="0080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d</a:t>
            </a:r>
            <a:endParaRPr lang="zh-CN" altLang="en-US" sz="2400" dirty="0"/>
          </a:p>
        </p:txBody>
      </p:sp>
      <p:sp>
        <p:nvSpPr>
          <p:cNvPr id="13" name="椭圆 12"/>
          <p:cNvSpPr/>
          <p:nvPr/>
        </p:nvSpPr>
        <p:spPr>
          <a:xfrm>
            <a:off x="2071869" y="5237499"/>
            <a:ext cx="474562" cy="45141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b</a:t>
            </a:r>
            <a:endParaRPr lang="zh-CN" altLang="en-US" sz="2400" dirty="0"/>
          </a:p>
        </p:txBody>
      </p:sp>
      <p:sp>
        <p:nvSpPr>
          <p:cNvPr id="14" name="椭圆 13"/>
          <p:cNvSpPr/>
          <p:nvPr/>
        </p:nvSpPr>
        <p:spPr>
          <a:xfrm>
            <a:off x="2905246" y="5237499"/>
            <a:ext cx="474562" cy="45141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c</a:t>
            </a:r>
            <a:endParaRPr lang="zh-CN" altLang="en-US" sz="2400" dirty="0"/>
          </a:p>
        </p:txBody>
      </p:sp>
      <p:sp>
        <p:nvSpPr>
          <p:cNvPr id="15" name="椭圆 14"/>
          <p:cNvSpPr/>
          <p:nvPr/>
        </p:nvSpPr>
        <p:spPr>
          <a:xfrm>
            <a:off x="3806263" y="5237499"/>
            <a:ext cx="474562" cy="45141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d</a:t>
            </a:r>
            <a:endParaRPr lang="zh-CN" altLang="en-US" sz="2400" dirty="0"/>
          </a:p>
        </p:txBody>
      </p:sp>
      <p:cxnSp>
        <p:nvCxnSpPr>
          <p:cNvPr id="19" name="直接连接符 18"/>
          <p:cNvCxnSpPr>
            <a:stCxn id="14" idx="6"/>
            <a:endCxn id="15" idx="2"/>
          </p:cNvCxnSpPr>
          <p:nvPr/>
        </p:nvCxnSpPr>
        <p:spPr>
          <a:xfrm>
            <a:off x="3379808" y="5463206"/>
            <a:ext cx="4264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3" idx="6"/>
            <a:endCxn id="14" idx="2"/>
          </p:cNvCxnSpPr>
          <p:nvPr/>
        </p:nvCxnSpPr>
        <p:spPr>
          <a:xfrm>
            <a:off x="2546431" y="5463206"/>
            <a:ext cx="3588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/>
          <p:cNvCxnSpPr>
            <a:stCxn id="5" idx="1"/>
            <a:endCxn id="14" idx="0"/>
          </p:cNvCxnSpPr>
          <p:nvPr/>
        </p:nvCxnSpPr>
        <p:spPr>
          <a:xfrm rot="10800000" flipV="1">
            <a:off x="3142527" y="4359253"/>
            <a:ext cx="2586942" cy="878245"/>
          </a:xfrm>
          <a:prstGeom prst="curvedConnector2">
            <a:avLst/>
          </a:prstGeom>
          <a:ln w="19050">
            <a:solidFill>
              <a:srgbClr val="0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曲线连接符 29"/>
          <p:cNvCxnSpPr>
            <a:stCxn id="11" idx="1"/>
            <a:endCxn id="15" idx="0"/>
          </p:cNvCxnSpPr>
          <p:nvPr/>
        </p:nvCxnSpPr>
        <p:spPr>
          <a:xfrm rot="10800000" flipV="1">
            <a:off x="4043545" y="4660195"/>
            <a:ext cx="1685925" cy="577303"/>
          </a:xfrm>
          <a:prstGeom prst="curvedConnector2">
            <a:avLst/>
          </a:prstGeom>
          <a:ln w="19050">
            <a:solidFill>
              <a:srgbClr val="0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/>
        </p:nvSpPr>
        <p:spPr>
          <a:xfrm>
            <a:off x="4707281" y="5237499"/>
            <a:ext cx="474562" cy="45141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e</a:t>
            </a:r>
            <a:endParaRPr lang="zh-CN" altLang="en-US" sz="2400" dirty="0"/>
          </a:p>
        </p:txBody>
      </p:sp>
      <p:cxnSp>
        <p:nvCxnSpPr>
          <p:cNvPr id="39" name="直接连接符 38"/>
          <p:cNvCxnSpPr>
            <a:endCxn id="38" idx="2"/>
          </p:cNvCxnSpPr>
          <p:nvPr/>
        </p:nvCxnSpPr>
        <p:spPr>
          <a:xfrm>
            <a:off x="4280826" y="5463206"/>
            <a:ext cx="4264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5729469" y="4810667"/>
            <a:ext cx="960699" cy="300942"/>
          </a:xfrm>
          <a:prstGeom prst="rect">
            <a:avLst/>
          </a:prstGeom>
          <a:solidFill>
            <a:srgbClr val="008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e</a:t>
            </a:r>
            <a:endParaRPr lang="zh-CN" altLang="en-US" sz="2400" dirty="0"/>
          </a:p>
        </p:txBody>
      </p:sp>
      <p:cxnSp>
        <p:nvCxnSpPr>
          <p:cNvPr id="46" name="曲线连接符 45"/>
          <p:cNvCxnSpPr>
            <a:stCxn id="44" idx="1"/>
            <a:endCxn id="38" idx="0"/>
          </p:cNvCxnSpPr>
          <p:nvPr/>
        </p:nvCxnSpPr>
        <p:spPr>
          <a:xfrm rot="10800000" flipV="1">
            <a:off x="4944563" y="4961137"/>
            <a:ext cx="784907" cy="276361"/>
          </a:xfrm>
          <a:prstGeom prst="curvedConnector2">
            <a:avLst/>
          </a:prstGeom>
          <a:ln w="1905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336404" y="5715298"/>
            <a:ext cx="201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LRU list</a:t>
            </a:r>
            <a:endParaRPr lang="zh-CN" altLang="en-US" sz="2400" dirty="0"/>
          </a:p>
        </p:txBody>
      </p:sp>
      <p:cxnSp>
        <p:nvCxnSpPr>
          <p:cNvPr id="49" name="曲线连接符 48"/>
          <p:cNvCxnSpPr/>
          <p:nvPr/>
        </p:nvCxnSpPr>
        <p:spPr>
          <a:xfrm rot="10800000" flipV="1">
            <a:off x="2309150" y="4058311"/>
            <a:ext cx="3420319" cy="1179187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19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" grpId="0" animBg="1"/>
      <p:bldP spid="38" grpId="0" animBg="1"/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1226916" y="3700352"/>
            <a:ext cx="2789499" cy="6018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Online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Sliding window - client</a:t>
            </a:r>
          </a:p>
          <a:p>
            <a:pPr lvl="1"/>
            <a:r>
              <a:rPr lang="en-US" altLang="zh-CN" dirty="0" smtClean="0"/>
              <a:t>Files in window are correlated with access </a:t>
            </a:r>
            <a:r>
              <a:rPr lang="en-US" altLang="zh-CN" dirty="0"/>
              <a:t>order</a:t>
            </a:r>
          </a:p>
          <a:p>
            <a:pPr lvl="1"/>
            <a:r>
              <a:rPr lang="en-US" altLang="zh-CN" dirty="0" smtClean="0"/>
              <a:t>Size = 4</a:t>
            </a:r>
          </a:p>
          <a:p>
            <a:pPr lvl="1"/>
            <a:r>
              <a:rPr lang="en-US" altLang="zh-CN" dirty="0" smtClean="0"/>
              <a:t>should send cached access sequence to MDS?</a:t>
            </a:r>
          </a:p>
        </p:txBody>
      </p:sp>
      <p:sp>
        <p:nvSpPr>
          <p:cNvPr id="6" name="椭圆 5"/>
          <p:cNvSpPr/>
          <p:nvPr/>
        </p:nvSpPr>
        <p:spPr>
          <a:xfrm>
            <a:off x="1111169" y="3669175"/>
            <a:ext cx="613459" cy="6018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917025" y="3669175"/>
            <a:ext cx="613459" cy="6018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22881" y="3700352"/>
            <a:ext cx="613459" cy="6018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528737" y="3700352"/>
            <a:ext cx="613459" cy="6018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334593" y="3700352"/>
            <a:ext cx="613459" cy="6018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140449" y="3700352"/>
            <a:ext cx="613459" cy="6018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46305" y="3700352"/>
            <a:ext cx="613459" cy="6018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377386" y="4466936"/>
            <a:ext cx="924343" cy="1639539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b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bc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d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680424" y="4466936"/>
            <a:ext cx="970598" cy="1647046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b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c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d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24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a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029717" y="4466936"/>
            <a:ext cx="970598" cy="1647046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b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c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d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a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5379010" y="4466936"/>
            <a:ext cx="970598" cy="1647046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b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4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</a:t>
            </a:r>
            <a:endParaRPr lang="en-US" altLang="zh-CN" sz="2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d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a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61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33333E-6 L 0.08559 -0.001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59 -0.00116 L 0.17361 0.000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361 0.00023 L 0.26025 0.0002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24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流程图: 可选过程 34"/>
          <p:cNvSpPr/>
          <p:nvPr/>
        </p:nvSpPr>
        <p:spPr>
          <a:xfrm>
            <a:off x="6045955" y="5293616"/>
            <a:ext cx="2898872" cy="626006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Offline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Longer access sequence mining</a:t>
            </a:r>
          </a:p>
          <a:p>
            <a:r>
              <a:rPr lang="en-US" altLang="zh-CN" dirty="0" smtClean="0"/>
              <a:t>Directory </a:t>
            </a:r>
          </a:p>
          <a:p>
            <a:pPr lvl="1"/>
            <a:r>
              <a:rPr lang="en-US" altLang="zh-CN" dirty="0" smtClean="0"/>
              <a:t>Small directory</a:t>
            </a:r>
          </a:p>
          <a:p>
            <a:pPr lvl="2"/>
            <a:r>
              <a:rPr lang="en-US" altLang="zh-CN" dirty="0" smtClean="0"/>
              <a:t>Similar files</a:t>
            </a:r>
          </a:p>
          <a:p>
            <a:pPr lvl="1"/>
            <a:r>
              <a:rPr lang="en-US" altLang="zh-CN" dirty="0" smtClean="0"/>
              <a:t>Larger directory</a:t>
            </a:r>
          </a:p>
          <a:p>
            <a:pPr lvl="2"/>
            <a:r>
              <a:rPr lang="en-US" altLang="zh-CN" b="1" dirty="0" smtClean="0"/>
              <a:t>hot</a:t>
            </a:r>
            <a:r>
              <a:rPr lang="en-US" altLang="zh-CN" dirty="0" smtClean="0"/>
              <a:t> and </a:t>
            </a:r>
            <a:r>
              <a:rPr lang="en-US" altLang="zh-CN" b="1" dirty="0" smtClean="0"/>
              <a:t>cold</a:t>
            </a:r>
            <a:r>
              <a:rPr lang="en-US" altLang="zh-CN" dirty="0" smtClean="0"/>
              <a:t> partition</a:t>
            </a:r>
          </a:p>
          <a:p>
            <a:pPr lvl="2"/>
            <a:r>
              <a:rPr lang="en-US" altLang="zh-CN" dirty="0" smtClean="0"/>
              <a:t>Focus on </a:t>
            </a:r>
            <a:r>
              <a:rPr lang="en-US" altLang="zh-CN" b="1" dirty="0" smtClean="0"/>
              <a:t>hot</a:t>
            </a:r>
            <a:r>
              <a:rPr lang="en-US" altLang="zh-CN" dirty="0" smtClean="0"/>
              <a:t> partition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4218915" y="3171452"/>
            <a:ext cx="4644428" cy="2749514"/>
            <a:chOff x="2503529" y="2740883"/>
            <a:chExt cx="4186235" cy="2163233"/>
          </a:xfrm>
        </p:grpSpPr>
        <p:sp>
          <p:nvSpPr>
            <p:cNvPr id="11" name="矩形 10"/>
            <p:cNvSpPr/>
            <p:nvPr/>
          </p:nvSpPr>
          <p:spPr>
            <a:xfrm>
              <a:off x="3837028" y="2740883"/>
              <a:ext cx="1076325" cy="3619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rPr>
                <a:t>root</a:t>
              </a:r>
              <a:endParaRPr lang="zh-CN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760703" y="3570352"/>
              <a:ext cx="1076325" cy="361950"/>
            </a:xfrm>
            <a:prstGeom prst="rect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var</a:t>
              </a:r>
              <a:endParaRPr lang="zh-CN" altLang="en-US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913353" y="3570352"/>
              <a:ext cx="1076325" cy="361950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home</a:t>
              </a:r>
              <a:endParaRPr lang="zh-CN" altLang="en-US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503529" y="4426808"/>
              <a:ext cx="561975" cy="476250"/>
            </a:xfrm>
            <a:prstGeom prst="ellipse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a</a:t>
              </a:r>
              <a:endParaRPr lang="zh-CN" altLang="en-US" sz="2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3529848" y="4427866"/>
              <a:ext cx="561975" cy="476250"/>
            </a:xfrm>
            <a:prstGeom prst="ellipse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b</a:t>
              </a:r>
              <a:endParaRPr lang="zh-CN" altLang="en-US" sz="2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4207443" y="4410536"/>
              <a:ext cx="561975" cy="47625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c</a:t>
              </a:r>
              <a:endParaRPr lang="zh-CN" altLang="en-US" sz="2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6127789" y="4418341"/>
              <a:ext cx="561975" cy="476250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d</a:t>
              </a:r>
              <a:endParaRPr lang="zh-CN" altLang="en-US" sz="2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826567" y="4418340"/>
              <a:ext cx="561975" cy="476250"/>
            </a:xfrm>
            <a:prstGeom prst="ellipse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e</a:t>
              </a:r>
              <a:endParaRPr lang="zh-CN" altLang="en-US" sz="2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445737" y="4426808"/>
              <a:ext cx="561975" cy="476250"/>
            </a:xfrm>
            <a:prstGeom prst="ellipse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…</a:t>
              </a:r>
              <a:endParaRPr lang="zh-CN" altLang="en-US" sz="2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1" name="肘形连接符 20"/>
            <p:cNvCxnSpPr>
              <a:stCxn id="11" idx="2"/>
              <a:endCxn id="12" idx="0"/>
            </p:cNvCxnSpPr>
            <p:nvPr/>
          </p:nvCxnSpPr>
          <p:spPr>
            <a:xfrm rot="5400000">
              <a:off x="3603270" y="2798430"/>
              <a:ext cx="467519" cy="1076325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11" idx="2"/>
              <a:endCxn id="13" idx="0"/>
            </p:cNvCxnSpPr>
            <p:nvPr/>
          </p:nvCxnSpPr>
          <p:spPr>
            <a:xfrm rot="16200000" flipH="1">
              <a:off x="4679594" y="2798429"/>
              <a:ext cx="467519" cy="1076325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stCxn id="12" idx="2"/>
              <a:endCxn id="14" idx="0"/>
            </p:cNvCxnSpPr>
            <p:nvPr/>
          </p:nvCxnSpPr>
          <p:spPr>
            <a:xfrm rot="5400000">
              <a:off x="2794439" y="3922381"/>
              <a:ext cx="494506" cy="514349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stCxn id="12" idx="2"/>
              <a:endCxn id="15" idx="0"/>
            </p:cNvCxnSpPr>
            <p:nvPr/>
          </p:nvCxnSpPr>
          <p:spPr>
            <a:xfrm rot="16200000" flipH="1">
              <a:off x="3307069" y="3924099"/>
              <a:ext cx="495564" cy="51197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肘形连接符 24"/>
            <p:cNvCxnSpPr>
              <a:stCxn id="13" idx="2"/>
              <a:endCxn id="16" idx="0"/>
            </p:cNvCxnSpPr>
            <p:nvPr/>
          </p:nvCxnSpPr>
          <p:spPr>
            <a:xfrm rot="5400000">
              <a:off x="4730857" y="3689877"/>
              <a:ext cx="478234" cy="96308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连接符 25"/>
            <p:cNvCxnSpPr>
              <a:stCxn id="13" idx="2"/>
              <a:endCxn id="18" idx="0"/>
            </p:cNvCxnSpPr>
            <p:nvPr/>
          </p:nvCxnSpPr>
          <p:spPr>
            <a:xfrm rot="16200000" flipH="1">
              <a:off x="5687127" y="3696690"/>
              <a:ext cx="486039" cy="95726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肘形连接符 29"/>
          <p:cNvCxnSpPr>
            <a:stCxn id="13" idx="2"/>
            <a:endCxn id="19" idx="0"/>
          </p:cNvCxnSpPr>
          <p:nvPr/>
        </p:nvCxnSpPr>
        <p:spPr>
          <a:xfrm rot="5400000">
            <a:off x="6989880" y="4803848"/>
            <a:ext cx="617765" cy="38160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13" idx="2"/>
            <a:endCxn id="20" idx="0"/>
          </p:cNvCxnSpPr>
          <p:nvPr/>
        </p:nvCxnSpPr>
        <p:spPr>
          <a:xfrm rot="16200000" flipH="1">
            <a:off x="7327967" y="4847369"/>
            <a:ext cx="628528" cy="305330"/>
          </a:xfrm>
          <a:prstGeom prst="bentConnector3">
            <a:avLst>
              <a:gd name="adj1" fmla="val 4855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上箭头 33"/>
          <p:cNvSpPr/>
          <p:nvPr/>
        </p:nvSpPr>
        <p:spPr>
          <a:xfrm>
            <a:off x="8413838" y="5948060"/>
            <a:ext cx="275528" cy="363839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/>
          <p:cNvCxnSpPr/>
          <p:nvPr/>
        </p:nvCxnSpPr>
        <p:spPr>
          <a:xfrm>
            <a:off x="6766054" y="5314298"/>
            <a:ext cx="0" cy="59422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448465" y="5314298"/>
            <a:ext cx="0" cy="59422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8171233" y="5293616"/>
            <a:ext cx="0" cy="59422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5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Implementation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Based on </a:t>
            </a:r>
            <a:r>
              <a:rPr lang="en-US" altLang="zh-CN" dirty="0" err="1" smtClean="0"/>
              <a:t>CephFS</a:t>
            </a:r>
            <a:endParaRPr lang="en-US" altLang="zh-CN" dirty="0" smtClean="0"/>
          </a:p>
          <a:p>
            <a:r>
              <a:rPr lang="en-US" altLang="zh-CN" dirty="0" smtClean="0"/>
              <a:t>User interface</a:t>
            </a:r>
          </a:p>
          <a:p>
            <a:pPr lvl="1"/>
            <a:r>
              <a:rPr lang="en-US" altLang="zh-CN" dirty="0" smtClean="0"/>
              <a:t>Track and reload system call</a:t>
            </a:r>
          </a:p>
          <a:p>
            <a:pPr lvl="2"/>
            <a:r>
              <a:rPr lang="en-US" altLang="zh-CN" dirty="0" smtClean="0"/>
              <a:t>Open, </a:t>
            </a:r>
            <a:r>
              <a:rPr lang="en-US" altLang="zh-CN" dirty="0" err="1" smtClean="0"/>
              <a:t>setxattr</a:t>
            </a:r>
            <a:r>
              <a:rPr lang="en-US" altLang="zh-CN" dirty="0" smtClean="0"/>
              <a:t>, stat</a:t>
            </a:r>
          </a:p>
          <a:p>
            <a:r>
              <a:rPr lang="en-US" altLang="zh-CN" dirty="0" smtClean="0"/>
              <a:t>Online</a:t>
            </a:r>
          </a:p>
          <a:p>
            <a:pPr lvl="1"/>
            <a:r>
              <a:rPr lang="en-US" altLang="zh-CN" dirty="0" smtClean="0"/>
              <a:t>Extended attributes stores correlation</a:t>
            </a:r>
          </a:p>
          <a:p>
            <a:pPr lvl="1"/>
            <a:r>
              <a:rPr lang="en-US" altLang="zh-CN" dirty="0" smtClean="0"/>
              <a:t>LRU list in extended attributes</a:t>
            </a:r>
          </a:p>
          <a:p>
            <a:r>
              <a:rPr lang="en-US" altLang="zh-CN" dirty="0" smtClean="0"/>
              <a:t>Offline</a:t>
            </a:r>
          </a:p>
          <a:p>
            <a:pPr lvl="1"/>
            <a:r>
              <a:rPr lang="en-US" altLang="zh-CN" dirty="0" smtClean="0"/>
              <a:t>Specific background thread</a:t>
            </a:r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01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Prefetching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Online &gt; offline</a:t>
            </a:r>
          </a:p>
          <a:p>
            <a:r>
              <a:rPr lang="en-US" altLang="zh-CN" dirty="0" smtClean="0"/>
              <a:t>Prefetching head partition in LRU</a:t>
            </a:r>
          </a:p>
          <a:p>
            <a:pPr lvl="1"/>
            <a:r>
              <a:rPr lang="en-US" altLang="zh-CN" dirty="0" smtClean="0"/>
              <a:t>Fixed prefetching size</a:t>
            </a:r>
          </a:p>
          <a:p>
            <a:pPr lvl="1"/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706171" y="3915890"/>
            <a:ext cx="3730027" cy="1815721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729213" y="5055076"/>
            <a:ext cx="2390110" cy="353086"/>
            <a:chOff x="1765426" y="3702866"/>
            <a:chExt cx="2390110" cy="353086"/>
          </a:xfrm>
        </p:grpSpPr>
        <p:sp>
          <p:nvSpPr>
            <p:cNvPr id="4" name="矩形 3"/>
            <p:cNvSpPr/>
            <p:nvPr/>
          </p:nvSpPr>
          <p:spPr>
            <a:xfrm>
              <a:off x="1765426" y="3702867"/>
              <a:ext cx="398352" cy="35308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163778" y="3702866"/>
              <a:ext cx="398352" cy="35308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562130" y="3702866"/>
              <a:ext cx="398352" cy="35308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960482" y="3702866"/>
              <a:ext cx="398352" cy="35308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3358834" y="3702866"/>
              <a:ext cx="398352" cy="35308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757184" y="3702866"/>
              <a:ext cx="398352" cy="35308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729213" y="4219179"/>
            <a:ext cx="2390110" cy="353086"/>
            <a:chOff x="1765426" y="3702866"/>
            <a:chExt cx="2390110" cy="353086"/>
          </a:xfrm>
          <a:solidFill>
            <a:srgbClr val="FF6699"/>
          </a:solidFill>
        </p:grpSpPr>
        <p:sp>
          <p:nvSpPr>
            <p:cNvPr id="19" name="矩形 18"/>
            <p:cNvSpPr/>
            <p:nvPr/>
          </p:nvSpPr>
          <p:spPr>
            <a:xfrm>
              <a:off x="1765426" y="3702867"/>
              <a:ext cx="398352" cy="353085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2163778" y="3702866"/>
              <a:ext cx="398352" cy="353085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2562130" y="3702866"/>
              <a:ext cx="398352" cy="353085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2960482" y="3702866"/>
              <a:ext cx="398352" cy="353085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358834" y="3702866"/>
              <a:ext cx="398352" cy="353085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757184" y="3702866"/>
              <a:ext cx="398352" cy="353085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516458" y="3882868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3849987" y="3895113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tail</a:t>
            </a:r>
            <a:endParaRPr lang="zh-CN" altLang="en-US" dirty="0"/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1729213" y="4658246"/>
            <a:ext cx="1195056" cy="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曲线连接符 32"/>
          <p:cNvCxnSpPr>
            <a:stCxn id="24" idx="3"/>
            <a:endCxn id="4" idx="0"/>
          </p:cNvCxnSpPr>
          <p:nvPr/>
        </p:nvCxnSpPr>
        <p:spPr>
          <a:xfrm flipH="1">
            <a:off x="1928389" y="4395722"/>
            <a:ext cx="2190934" cy="659355"/>
          </a:xfrm>
          <a:prstGeom prst="curvedConnector4">
            <a:avLst>
              <a:gd name="adj1" fmla="val -8368"/>
              <a:gd name="adj2" fmla="val 63387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1729213" y="5539135"/>
            <a:ext cx="1195056" cy="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909877" y="4234284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data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89928" y="5035418"/>
            <a:ext cx="90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access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5006561" y="3915890"/>
            <a:ext cx="3730027" cy="1815721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6029603" y="5055076"/>
            <a:ext cx="2390110" cy="353086"/>
            <a:chOff x="1765426" y="3702866"/>
            <a:chExt cx="2390110" cy="353086"/>
          </a:xfrm>
        </p:grpSpPr>
        <p:sp>
          <p:nvSpPr>
            <p:cNvPr id="40" name="矩形 39"/>
            <p:cNvSpPr/>
            <p:nvPr/>
          </p:nvSpPr>
          <p:spPr>
            <a:xfrm>
              <a:off x="1765426" y="3702867"/>
              <a:ext cx="398352" cy="353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163778" y="3702866"/>
              <a:ext cx="398352" cy="353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2562130" y="3702866"/>
              <a:ext cx="398352" cy="353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2960482" y="3702866"/>
              <a:ext cx="398352" cy="353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3358834" y="3702866"/>
              <a:ext cx="398352" cy="353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3757184" y="3702866"/>
              <a:ext cx="398352" cy="3530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029603" y="4219179"/>
            <a:ext cx="2390110" cy="353086"/>
            <a:chOff x="1765426" y="3702866"/>
            <a:chExt cx="2390110" cy="353086"/>
          </a:xfrm>
          <a:solidFill>
            <a:srgbClr val="FF6699"/>
          </a:solidFill>
        </p:grpSpPr>
        <p:sp>
          <p:nvSpPr>
            <p:cNvPr id="47" name="矩形 46"/>
            <p:cNvSpPr/>
            <p:nvPr/>
          </p:nvSpPr>
          <p:spPr>
            <a:xfrm>
              <a:off x="1765426" y="3702867"/>
              <a:ext cx="398352" cy="3530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2163778" y="3702866"/>
              <a:ext cx="398352" cy="3530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2562130" y="3702866"/>
              <a:ext cx="398352" cy="3530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2960482" y="3702866"/>
              <a:ext cx="398352" cy="3530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358834" y="3702866"/>
              <a:ext cx="398352" cy="3530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3757184" y="3702866"/>
              <a:ext cx="398352" cy="3530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5816848" y="3882868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head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8150377" y="3895113"/>
            <a:ext cx="77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tail</a:t>
            </a:r>
            <a:endParaRPr lang="zh-CN" altLang="en-US" dirty="0"/>
          </a:p>
        </p:txBody>
      </p:sp>
      <p:cxnSp>
        <p:nvCxnSpPr>
          <p:cNvPr id="55" name="直接箭头连接符 54"/>
          <p:cNvCxnSpPr/>
          <p:nvPr/>
        </p:nvCxnSpPr>
        <p:spPr>
          <a:xfrm flipV="1">
            <a:off x="6029603" y="4658246"/>
            <a:ext cx="119505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6029603" y="5539135"/>
            <a:ext cx="119505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5020715" y="4225232"/>
            <a:ext cx="105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directory</a:t>
            </a:r>
            <a:endParaRPr lang="zh-CN" altLang="en-US" dirty="0"/>
          </a:p>
        </p:txBody>
      </p:sp>
      <p:sp>
        <p:nvSpPr>
          <p:cNvPr id="59" name="文本框 58"/>
          <p:cNvSpPr txBox="1"/>
          <p:nvPr/>
        </p:nvSpPr>
        <p:spPr>
          <a:xfrm>
            <a:off x="5090318" y="5035418"/>
            <a:ext cx="90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access</a:t>
            </a:r>
            <a:endParaRPr lang="zh-CN" altLang="en-US" dirty="0"/>
          </a:p>
        </p:txBody>
      </p:sp>
      <p:sp>
        <p:nvSpPr>
          <p:cNvPr id="63" name="文本框 62"/>
          <p:cNvSpPr txBox="1"/>
          <p:nvPr/>
        </p:nvSpPr>
        <p:spPr>
          <a:xfrm>
            <a:off x="2285999" y="5850234"/>
            <a:ext cx="1217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online</a:t>
            </a:r>
            <a:endParaRPr lang="zh-CN" altLang="en-US" sz="2400" b="1" dirty="0"/>
          </a:p>
        </p:txBody>
      </p:sp>
      <p:sp>
        <p:nvSpPr>
          <p:cNvPr id="64" name="文本框 63"/>
          <p:cNvSpPr txBox="1"/>
          <p:nvPr/>
        </p:nvSpPr>
        <p:spPr>
          <a:xfrm>
            <a:off x="6262728" y="5817592"/>
            <a:ext cx="1217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offline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239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Try to find better examples or traces or workloads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1797585"/>
      </p:ext>
    </p:extLst>
  </p:cSld>
  <p:clrMapOvr>
    <a:masterClrMapping/>
  </p:clrMapOvr>
</p:sld>
</file>

<file path=ppt/theme/theme1.xml><?xml version="1.0" encoding="utf-8"?>
<a:theme xmlns:a="http://schemas.openxmlformats.org/drawingml/2006/main" name="4_arial+l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+yahei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ial+line" id="{FD210061-913B-400D-AD9A-0EEC4B2A9BCF}" vid="{DF9F54EB-609D-41DC-85A8-F00AFCE79D56}"/>
    </a:ext>
  </a:extLst>
</a:theme>
</file>

<file path=ppt/theme/theme2.xml><?xml version="1.0" encoding="utf-8"?>
<a:theme xmlns:a="http://schemas.openxmlformats.org/drawingml/2006/main" name="5_arial+l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+yahei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ial+line" id="{EC720767-0DC1-458B-8893-C0FEE2F15DCB}" vid="{0806BE91-05F9-4EB0-B3CA-70D3E1F58ABF}"/>
    </a:ext>
  </a:extLst>
</a:theme>
</file>

<file path=ppt/theme/theme3.xml><?xml version="1.0" encoding="utf-8"?>
<a:theme xmlns:a="http://schemas.openxmlformats.org/drawingml/2006/main" name="6_arial+l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+yahei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ial+line" id="{EC720767-0DC1-458B-8893-C0FEE2F15DCB}" vid="{0806BE91-05F9-4EB0-B3CA-70D3E1F58ABF}"/>
    </a:ext>
  </a:extLst>
</a:theme>
</file>

<file path=ppt/theme/theme4.xml><?xml version="1.0" encoding="utf-8"?>
<a:theme xmlns:a="http://schemas.openxmlformats.org/drawingml/2006/main" name="7_arial+l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+yahei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ial+line" id="{EC720767-0DC1-458B-8893-C0FEE2F15DCB}" vid="{0806BE91-05F9-4EB0-B3CA-70D3E1F58ABF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arial+line</Template>
  <TotalTime>1716</TotalTime>
  <Words>561</Words>
  <Application>Microsoft Office PowerPoint</Application>
  <PresentationFormat>全屏显示(4:3)</PresentationFormat>
  <Paragraphs>187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宋体</vt:lpstr>
      <vt:lpstr>微软雅黑</vt:lpstr>
      <vt:lpstr>Arial</vt:lpstr>
      <vt:lpstr>Calibri</vt:lpstr>
      <vt:lpstr>Times New Roman</vt:lpstr>
      <vt:lpstr>Wingdings</vt:lpstr>
      <vt:lpstr>4_arial+line</vt:lpstr>
      <vt:lpstr>5_arial+line</vt:lpstr>
      <vt:lpstr>6_arial+line</vt:lpstr>
      <vt:lpstr>7_arial+line</vt:lpstr>
      <vt:lpstr>CoreFS:correlation-based File System</vt:lpstr>
      <vt:lpstr>Outline </vt:lpstr>
      <vt:lpstr>Motivation</vt:lpstr>
      <vt:lpstr>Problem statement</vt:lpstr>
      <vt:lpstr>Related work</vt:lpstr>
      <vt:lpstr>Data model</vt:lpstr>
      <vt:lpstr>What kinds of changes made to File systems meta data?</vt:lpstr>
      <vt:lpstr>Changes to the interface</vt:lpstr>
      <vt:lpstr>Challenges?</vt:lpstr>
      <vt:lpstr>User interface</vt:lpstr>
      <vt:lpstr>User interface</vt:lpstr>
      <vt:lpstr>User interface</vt:lpstr>
      <vt:lpstr>User interface</vt:lpstr>
      <vt:lpstr>User interface</vt:lpstr>
      <vt:lpstr>Online </vt:lpstr>
      <vt:lpstr>Online </vt:lpstr>
      <vt:lpstr>Offline </vt:lpstr>
      <vt:lpstr>Implementation </vt:lpstr>
      <vt:lpstr>Prefetching </vt:lpstr>
      <vt:lpstr>Evaluation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CoreFS:correlation-based File System</dc:title>
  <dc:creator>Youxu</dc:creator>
  <cp:lastModifiedBy>Youxu</cp:lastModifiedBy>
  <cp:revision>30</cp:revision>
  <dcterms:created xsi:type="dcterms:W3CDTF">2017-07-31T06:25:31Z</dcterms:created>
  <dcterms:modified xsi:type="dcterms:W3CDTF">2017-08-02T02:20:32Z</dcterms:modified>
</cp:coreProperties>
</file>